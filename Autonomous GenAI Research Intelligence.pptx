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Fira Sans" panose="020B0503050000020004" pitchFamily="34" charset="0"/>
      <p:regular r:id="rId13"/>
      <p:bold r:id="rId14"/>
    </p:embeddedFont>
    <p:embeddedFont>
      <p:font typeface="Inconsolata Bold" pitchFamily="1" charset="0"/>
      <p:bold r:id="rId15"/>
    </p:embeddedFont>
    <p:embeddedFont>
      <p:font typeface="Inconsolata Light" pitchFamily="1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900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57298"/>
            <a:ext cx="3555376" cy="53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40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OpenScholar AI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96119" y="2379524"/>
            <a:ext cx="4722763" cy="100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Autonomous GenAI Research Intelligence Agent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96119" y="3809479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Presented by </a:t>
            </a:r>
            <a:r>
              <a:rPr lang="en-IN" sz="1100" b="1">
                <a:solidFill>
                  <a:schemeClr val="bg1"/>
                </a:solidFill>
              </a:rPr>
              <a:t>Team SCAM</a:t>
            </a:r>
            <a:r>
              <a:rPr lang="en-IN" sz="1100" b="1" dirty="0">
                <a:solidFill>
                  <a:schemeClr val="bg1"/>
                </a:solidFill>
              </a:rPr>
              <a:t>*</a:t>
            </a:r>
            <a:r>
              <a:rPr lang="en-IN" sz="1100" b="1">
                <a:solidFill>
                  <a:schemeClr val="bg1"/>
                </a:solidFill>
              </a:rPr>
              <a:t>€₹$  </a:t>
            </a:r>
            <a:r>
              <a:rPr lang="en-IN" sz="1100" b="1" dirty="0">
                <a:solidFill>
                  <a:schemeClr val="bg1"/>
                </a:solidFill>
              </a:rPr>
              <a:t>M S Ramaiah Institute Of technology</a:t>
            </a:r>
            <a:endParaRPr lang="en-US" sz="11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3581"/>
            <a:ext cx="42523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Discovery Gap Crisis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28639"/>
            <a:ext cx="3625715" cy="2341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209416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Overload Problem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749701" y="2457376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GenAI research landscape has exploded. With over </a:t>
            </a:r>
            <a:r>
              <a:rPr lang="en-US" sz="14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500+ papers published daily</a:t>
            </a: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staying current is impossible through manual tracking alone.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44938" y="3492177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Students, developers, and startups face a critical bottleneck: </a:t>
            </a:r>
            <a:r>
              <a:rPr lang="en-US" sz="1400" dirty="0">
                <a:solidFill>
                  <a:srgbClr val="DC35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how do you find what actually matters?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8793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Solution: Autonomous Intelligence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586508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OpenScholar AI is a </a:t>
            </a: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full decision-support system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that autonomously fetches, ranks, and delivers actionable GenAI research insights. No more endless scrolling through arXiv—let intelligence agents do the heavy lifting.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653233"/>
            <a:ext cx="2290465" cy="1043657"/>
          </a:xfrm>
          <a:prstGeom prst="roundRect">
            <a:avLst>
              <a:gd name="adj" fmla="val 2038"/>
            </a:avLst>
          </a:prstGeom>
          <a:solidFill>
            <a:srgbClr val="433550"/>
          </a:solidFill>
          <a:ln/>
        </p:spPr>
      </p:sp>
      <p:sp>
        <p:nvSpPr>
          <p:cNvPr id="6" name="Text 3"/>
          <p:cNvSpPr/>
          <p:nvPr/>
        </p:nvSpPr>
        <p:spPr>
          <a:xfrm>
            <a:off x="637877" y="27949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Automated Discovery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3101504"/>
            <a:ext cx="2006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Continuous monitoring of 100+ sources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653233"/>
            <a:ext cx="2290539" cy="1043657"/>
          </a:xfrm>
          <a:prstGeom prst="roundRect">
            <a:avLst>
              <a:gd name="adj" fmla="val 2038"/>
            </a:avLst>
          </a:prstGeom>
          <a:solidFill>
            <a:srgbClr val="433550"/>
          </a:solidFill>
          <a:ln/>
        </p:spPr>
      </p:sp>
      <p:sp>
        <p:nvSpPr>
          <p:cNvPr id="9" name="Text 6"/>
          <p:cNvSpPr/>
          <p:nvPr/>
        </p:nvSpPr>
        <p:spPr>
          <a:xfrm>
            <a:off x="3070101" y="27949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Intelligent Ranking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0101" y="3101504"/>
            <a:ext cx="20070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ML-powered relevance scoring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838649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12" name="Text 9"/>
          <p:cNvSpPr/>
          <p:nvPr/>
        </p:nvSpPr>
        <p:spPr>
          <a:xfrm>
            <a:off x="637877" y="39804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Code Validation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7877" y="4286920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GitHub repository auditing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6185"/>
            <a:ext cx="584693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Our MOAT: Research + Code Linkage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8082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Competitive Edge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344043"/>
            <a:ext cx="34780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Most research tools stop at papers. </a:t>
            </a:r>
            <a:r>
              <a:rPr lang="en-US" sz="1100" b="1" dirty="0">
                <a:solidFill>
                  <a:srgbClr val="007B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 go further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—automatically locating, auditing, and validating GitHub repositories to ensure research is actually implementable.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378845"/>
            <a:ext cx="3478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This is our primary differentiator: </a:t>
            </a: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 don't just find papers; we verify they can be built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796" y="1601242"/>
            <a:ext cx="4327773" cy="25966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44909"/>
            <a:ext cx="358802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Multi-Agent Architecture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45219" y="920502"/>
            <a:ext cx="82534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Five specialized agents work in concert to deliver complete research intelligence: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19" y="1210345"/>
            <a:ext cx="598066" cy="7176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4191" y="1329928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Scout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44191" y="1577280"/>
            <a:ext cx="75545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Discovers new papers across arXiv, conferences, and journals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19" y="1927994"/>
            <a:ext cx="598066" cy="7176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4191" y="2047577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Analyst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44191" y="2294930"/>
            <a:ext cx="75545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Extracts key insights, methodologies, and claims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219" y="2645643"/>
            <a:ext cx="598066" cy="7176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4191" y="2765227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Repo Auditor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1144191" y="3012579"/>
            <a:ext cx="75545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Locates and scores GitHub implementations for feasibility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219" y="3363292"/>
            <a:ext cx="598066" cy="7176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4191" y="3482876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Trend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144191" y="3730228"/>
            <a:ext cx="75545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Identifies emerging patterns and hot topics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219" y="4080942"/>
            <a:ext cx="598066" cy="71764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4191" y="4200525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Report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1144191" y="4447877"/>
            <a:ext cx="75545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Compiles weekly digest with ranked insights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7911"/>
            <a:ext cx="42523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Build Feasibility Engine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77541"/>
            <a:ext cx="23024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Repo Scoring System (0-10)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240756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Our proprietary engine evaluates GitHub repositories across three critical dimensions to save developers hours of wasted exploration: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435" y="1362968"/>
            <a:ext cx="3053135" cy="18318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6119" y="3513758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69" y="3513758"/>
            <a:ext cx="76200" cy="10817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077" y="36745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Completeness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14077" y="3981078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Code structure, dependencies, and implementation status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60601" y="3513758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1551" y="3513758"/>
            <a:ext cx="76200" cy="108175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78560" y="36745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Freshness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3478560" y="3981078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Recent commits, issue activity, and maintenance level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025083" y="3513758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033" y="3513758"/>
            <a:ext cx="76200" cy="108175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43042" y="36745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Documentation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243042" y="3981078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Readme quality, tutorials, and API 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654" y="488305"/>
            <a:ext cx="299040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Product Walkthrough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18654" y="1013445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01</a:t>
            </a: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54" y="1202382"/>
            <a:ext cx="4877693" cy="142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8654" y="1290712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Topic Selection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18654" y="1538064"/>
            <a:ext cx="487769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Define your research area: "LLM optimization," "vision transformers," or custom keywords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18654" y="1905000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02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54" y="2082031"/>
            <a:ext cx="4877693" cy="142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8654" y="2182267"/>
            <a:ext cx="156894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Autonomous Processing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18654" y="2429619"/>
            <a:ext cx="487769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Agents work 24/7 fetching papers, extracting insights, auditing repos, and identifying trends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18654" y="2972916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03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54" y="3137967"/>
            <a:ext cx="4877693" cy="142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18654" y="3250183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Dashboard Insights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18654" y="3497535"/>
            <a:ext cx="487769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Real-time view of top papers, repo scores, trend analysis, and implementation feasibility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18654" y="3864471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04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54" y="4017615"/>
            <a:ext cx="4877693" cy="142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18654" y="4141738"/>
            <a:ext cx="164365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Weekly Digest Delivery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418654" y="4389090"/>
            <a:ext cx="487769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Automatically generated DOCX/PDF report with ranked insights and executive summary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06673"/>
            <a:ext cx="33780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Tech Stack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901" y="880467"/>
            <a:ext cx="194176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Built for Scale &amp; Speed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901" y="1429643"/>
            <a:ext cx="270197" cy="2701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4056" y="1476077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Node.js/Express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04056" y="1815926"/>
            <a:ext cx="350311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Backend framework for high-concurrency processing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901" y="2284586"/>
            <a:ext cx="270197" cy="2701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4056" y="233102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MongoDB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04056" y="2670870"/>
            <a:ext cx="350311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NoSQL storage for flexible schema and fast queries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901" y="3139529"/>
            <a:ext cx="270197" cy="2701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4056" y="318596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OpenAI/Claude APIs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904056" y="3525813"/>
            <a:ext cx="350311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LLM-powered text analysis and insight generation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901" y="3994472"/>
            <a:ext cx="270197" cy="27019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4056" y="4040907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PDF-parse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904056" y="4380756"/>
            <a:ext cx="350311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Document extraction and content processing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1590" y="1830437"/>
            <a:ext cx="3934271" cy="23605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526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Impact &amp; Metrics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52612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&lt;2min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909637" y="18974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Report Generation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20399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Full weekly research intelligence from discovery to delivery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1252612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500+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685952" y="18974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Daily Papers Tracked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220399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Continuous monitoring of GenAI publications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1252612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10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462266" y="18974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Repo Score Range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2203996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Build feasibility scoring system (0-10)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28702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Who Benefits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96119" y="3304282"/>
            <a:ext cx="2622724" cy="1383878"/>
          </a:xfrm>
          <a:prstGeom prst="roundRect">
            <a:avLst>
              <a:gd name="adj" fmla="val 1537"/>
            </a:avLst>
          </a:prstGeom>
          <a:solidFill>
            <a:srgbClr val="433550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446041"/>
            <a:ext cx="425276" cy="425276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856" y="3562945"/>
            <a:ext cx="191319" cy="19131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7877" y="40130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Students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37877" y="4319588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Thesis research acceleration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60601" y="3304282"/>
            <a:ext cx="2622724" cy="1383878"/>
          </a:xfrm>
          <a:prstGeom prst="roundRect">
            <a:avLst>
              <a:gd name="adj" fmla="val 1537"/>
            </a:avLst>
          </a:prstGeom>
          <a:solidFill>
            <a:srgbClr val="433550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360" y="3446041"/>
            <a:ext cx="425276" cy="425276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9339" y="3562945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402360" y="40130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Developers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3402360" y="4319588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Stay ahead of frameworks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025083" y="3304282"/>
            <a:ext cx="2622724" cy="1383878"/>
          </a:xfrm>
          <a:prstGeom prst="roundRect">
            <a:avLst>
              <a:gd name="adj" fmla="val 1537"/>
            </a:avLst>
          </a:prstGeom>
          <a:solidFill>
            <a:srgbClr val="433550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6842" y="3446041"/>
            <a:ext cx="425276" cy="425276"/>
          </a:xfrm>
          <a:prstGeom prst="rect">
            <a:avLst/>
          </a:prstGeom>
        </p:spPr>
      </p:pic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3821" y="3562945"/>
            <a:ext cx="191319" cy="19131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66842" y="40130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Startups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6166842" y="4319588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Competitive intelligence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640" y="382712"/>
            <a:ext cx="4753719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OpenScholar AI: Ranked. Actionable. Delivered.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40" y="1440507"/>
            <a:ext cx="411956" cy="714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5575" y="157780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Today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025575" y="1872109"/>
            <a:ext cx="420878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Autonomous paper discovery, repo auditing, and weekly digests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19" y="2397472"/>
            <a:ext cx="411956" cy="7143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1553" y="2534766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Next Phase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1231553" y="2829074"/>
            <a:ext cx="400280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Citation graph mapping and influence analysis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597" y="3354437"/>
            <a:ext cx="411956" cy="7143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37531" y="349173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Future Vision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437531" y="3786039"/>
            <a:ext cx="379682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Enterprise team integration with collaborative workflows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480640" y="4328071"/>
            <a:ext cx="4753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Ready to eliminate the discovery gap?</a:t>
            </a: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OpenScholar AI turns GenAI research chaos into competitive advantage.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524</Words>
  <Application>Microsoft Office PowerPoint</Application>
  <PresentationFormat>On-screen Show (16:9)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Inconsolata Bold</vt:lpstr>
      <vt:lpstr>Fira Sans</vt:lpstr>
      <vt:lpstr>Inconsolata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umesh m m umesh</cp:lastModifiedBy>
  <cp:revision>3</cp:revision>
  <dcterms:created xsi:type="dcterms:W3CDTF">2026-05-05T16:52:23Z</dcterms:created>
  <dcterms:modified xsi:type="dcterms:W3CDTF">2026-05-08T17:03:50Z</dcterms:modified>
</cp:coreProperties>
</file>