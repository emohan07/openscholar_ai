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ice" panose="020B0604020202020204" charset="0"/>
      <p:regular r:id="rId13"/>
    </p:embeddedFont>
    <p:embeddedFont>
      <p:font typeface="Berlin Sans FB Demi" panose="020E0802020502020306" pitchFamily="34" charset="0"/>
      <p:bold r:id="rId14"/>
    </p:embeddedFont>
    <p:embeddedFont>
      <p:font typeface="Lora" panose="020F0502020204030204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-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980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182932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600" b="1" dirty="0">
                <a:solidFill>
                  <a:srgbClr val="FF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OpenScholar AI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573536"/>
            <a:ext cx="37932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latin typeface="Alice" pitchFamily="34" charset="0"/>
                <a:ea typeface="Alice" pitchFamily="34" charset="-122"/>
                <a:cs typeface="Alice" pitchFamily="34" charset="-120"/>
              </a:rPr>
              <a:t>Autonomous GenAI Research Intelligence Agent</a:t>
            </a:r>
            <a:endParaRPr lang="en-US" sz="1350" b="1" dirty="0"/>
          </a:p>
        </p:txBody>
      </p:sp>
      <p:sp>
        <p:nvSpPr>
          <p:cNvPr id="6" name="Text 4"/>
          <p:cNvSpPr/>
          <p:nvPr/>
        </p:nvSpPr>
        <p:spPr>
          <a:xfrm>
            <a:off x="496119" y="300759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620691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Team Members: Mohan E, Ayush Arun, </a:t>
            </a:r>
            <a:r>
              <a:rPr lang="en-US" sz="110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Sourabh ,Chethan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Kumar M U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1B576F-BD08-D4CC-E3B6-3881E35F40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5399266" y="527150"/>
            <a:ext cx="3407998" cy="486078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923262-0CB9-13E7-FFB2-626BD42CD33B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C8EC6E-8FB7-01CE-0606-D78B47EDD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29C122-6A0F-038A-5029-642D48E5483A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3C9DE47-0BDF-0319-6D9B-022EF41AF15B}"/>
              </a:ext>
            </a:extLst>
          </p:cNvPr>
          <p:cNvSpPr txBox="1"/>
          <p:nvPr/>
        </p:nvSpPr>
        <p:spPr>
          <a:xfrm>
            <a:off x="-73479" y="487034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C009D8-B9CD-450E-A6C7-959374A1F8F4}"/>
              </a:ext>
            </a:extLst>
          </p:cNvPr>
          <p:cNvSpPr txBox="1"/>
          <p:nvPr/>
        </p:nvSpPr>
        <p:spPr>
          <a:xfrm>
            <a:off x="1653573" y="372948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884" y="302047"/>
            <a:ext cx="27135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Problem Statement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379884" y="765870"/>
            <a:ext cx="4955232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pace of GenAI innovation is relentless — hundreds of papers and repositories appear every week. Researchers, developers, and students face </a:t>
            </a:r>
            <a:r>
              <a:rPr lang="en-US" sz="1000" b="1" dirty="0">
                <a:latin typeface="Lora" pitchFamily="34" charset="0"/>
                <a:ea typeface="Lora" pitchFamily="34" charset="-122"/>
                <a:cs typeface="Lora" pitchFamily="34" charset="-120"/>
              </a:rPr>
              <a:t>INFORMATION</a:t>
            </a:r>
            <a:r>
              <a:rPr lang="en-US" sz="10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000" b="1" dirty="0">
                <a:latin typeface="Lora" pitchFamily="34" charset="0"/>
                <a:ea typeface="Lora" pitchFamily="34" charset="-122"/>
                <a:cs typeface="Lora" pitchFamily="34" charset="-120"/>
              </a:rPr>
              <a:t>OVERLOAD</a:t>
            </a: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with no actionable signal.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79884" y="1319212"/>
            <a:ext cx="4955232" cy="701277"/>
          </a:xfrm>
          <a:prstGeom prst="roundRect">
            <a:avLst>
              <a:gd name="adj" fmla="val 2633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667" y="144199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Daily Tracking Time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667" y="1661368"/>
            <a:ext cx="470966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Manually tracking ArXiv, GitHub, and Hugging Face consumes 2–3 hours daily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with no ROI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79884" y="2020491"/>
            <a:ext cx="4955232" cy="618232"/>
          </a:xfrm>
          <a:prstGeom prst="roundRect">
            <a:avLst>
              <a:gd name="adj" fmla="val 2633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667" y="2143274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Complex PDFs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667" y="2362646"/>
            <a:ext cx="470966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Research papers lack quick methodology insights and implementation clarity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79884" y="2721769"/>
            <a:ext cx="4955232" cy="618232"/>
          </a:xfrm>
          <a:prstGeom prst="roundRect">
            <a:avLst>
              <a:gd name="adj" fmla="val 2633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667" y="2844552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Broken Repos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667" y="3063925"/>
            <a:ext cx="470966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way to judge if a repository is actually usable or broken before investing time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79884" y="3423047"/>
            <a:ext cx="4955232" cy="711696"/>
          </a:xfrm>
          <a:prstGeom prst="roundRect">
            <a:avLst>
              <a:gd name="adj" fmla="val 2633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667" y="3545830"/>
            <a:ext cx="140002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 Product Conversion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667" y="3765203"/>
            <a:ext cx="470966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Research findings never convert into real product opportunities or competitive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advantage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79884" y="4134743"/>
            <a:ext cx="495523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Who faces it:</a:t>
            </a:r>
            <a:r>
              <a:rPr lang="en-US" sz="1000" dirty="0">
                <a:solidFill>
                  <a:srgbClr val="00206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Students, R&amp;D leads, startup builders, hackathon teams, professors and research labs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9884" y="4534793"/>
            <a:ext cx="495523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it matters:</a:t>
            </a:r>
            <a:r>
              <a:rPr lang="en-US" sz="1000" dirty="0">
                <a:solidFill>
                  <a:srgbClr val="00206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a breakthrough means falling behind. Manual curation is not scalable in 2025.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2866"/>
            <a:ext cx="409604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Current Solutions &amp; Gaps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5787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030A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Existing Tools</a:t>
            </a:r>
            <a:endParaRPr lang="en-US" sz="1350" dirty="0">
              <a:solidFill>
                <a:srgbClr val="7030A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94198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Google Alerts for keyword monitoring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Feedly for RSS aggregation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ResearchRabbit for discovery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Plain ArXiv browsing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578769"/>
            <a:ext cx="18075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030A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What's Missing/Broken</a:t>
            </a:r>
            <a:endParaRPr lang="en-US" sz="1350" dirty="0">
              <a:solidFill>
                <a:srgbClr val="7030A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749701" y="1941984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unified sweep of papers + repos + news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implementation feasibility scoring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comparative intelligence between papers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trend detection or momentum analysis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structured executive digests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autonomous scheduled delivery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759696"/>
            <a:ext cx="8151763" cy="602382"/>
          </a:xfrm>
          <a:prstGeom prst="roundRect">
            <a:avLst>
              <a:gd name="adj" fmla="val 3530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974753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3936876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Opportunity:</a:t>
            </a: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 AI agent that does ALL of this end-to-end with zero human intervention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4722" y="242217"/>
            <a:ext cx="438048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OpenScholar AI — Our Solution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285875" y="594420"/>
            <a:ext cx="6032004" cy="3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 autonomous 5-agent GenAI research intelligence system that monitors, analyzes, scores, and </a:t>
            </a:r>
          </a:p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delivers research insights automatically.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921767"/>
            <a:ext cx="476250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6121" y="1017017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Scout Agent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826121" y="1204243"/>
            <a:ext cx="603200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Fetches latest papers from ArXiv and repositories from GitHub daily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5" y="1493267"/>
            <a:ext cx="476250" cy="571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6121" y="1588517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Analyst Agent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1826121" y="1775743"/>
            <a:ext cx="603200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Extracts methodology, contribution, and use-cases via LLM analysis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875" y="2064767"/>
            <a:ext cx="476250" cy="571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26121" y="2160017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Repo Auditor Agent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1826121" y="2347243"/>
            <a:ext cx="603200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Checks build feasibility, dependencies, and code completeness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875" y="2636267"/>
            <a:ext cx="476250" cy="571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26121" y="2731517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Trend Agent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5" name="Text 9"/>
          <p:cNvSpPr/>
          <p:nvPr/>
        </p:nvSpPr>
        <p:spPr>
          <a:xfrm>
            <a:off x="1826121" y="2918743"/>
            <a:ext cx="603200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Detects rising keywords, hot subfields, and pattern momentum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5875" y="3207767"/>
            <a:ext cx="476250" cy="571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26121" y="3303017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Report Agent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8" name="Text 11"/>
          <p:cNvSpPr/>
          <p:nvPr/>
        </p:nvSpPr>
        <p:spPr>
          <a:xfrm>
            <a:off x="1826121" y="3490243"/>
            <a:ext cx="603200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Generates weekly DOCX/PDF digest and delivers via email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1285875" y="3875261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285875" y="4120083"/>
            <a:ext cx="6572250" cy="72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Multi-dimensional scoring (novelty, relevance, feasibility, adoption)</a:t>
            </a:r>
            <a:endParaRPr lang="en-US" sz="11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Insight labels: Should Watch / Should Build / Should Learn / Should Ignore</a:t>
            </a:r>
            <a:endParaRPr lang="en-US" sz="11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Structured weekly digest: Executive Summary + Top Papers + Top Repos</a:t>
            </a:r>
            <a:endParaRPr lang="en-US" sz="11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Trend Radar + Action Items</a:t>
            </a:r>
            <a:endParaRPr lang="en-US" sz="11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Fully automated — runs on schedule, delivers to inbox, no manual step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31663"/>
            <a:ext cx="4045418" cy="31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Demo / Product Walkthrough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82" y="809848"/>
            <a:ext cx="520526" cy="62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7132" y="913954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Configure Topics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577132" y="1122462"/>
            <a:ext cx="65866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sets topics once: RAG, agents, multimodal, on-device AI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182" y="1434480"/>
            <a:ext cx="520526" cy="6246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77132" y="1538585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Fetch Daily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1584166" y="1747093"/>
            <a:ext cx="65866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Scout Agent fetches ArXiv papers and GitHub repositories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182" y="2059112"/>
            <a:ext cx="520526" cy="6246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77132" y="2163217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Analyze &amp; Score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1577132" y="2371725"/>
            <a:ext cx="65866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Agents analyze with summary, methodology, feasibility, trends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182" y="2683743"/>
            <a:ext cx="520526" cy="6246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77132" y="2787848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View Dashboard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1577132" y="2996357"/>
            <a:ext cx="65866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shows ranked insights with scores, labels, trend radar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182" y="3308375"/>
            <a:ext cx="520526" cy="6246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77132" y="341248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Get Report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7" name="Text 10"/>
          <p:cNvSpPr/>
          <p:nvPr/>
        </p:nvSpPr>
        <p:spPr>
          <a:xfrm>
            <a:off x="1577132" y="3620988"/>
            <a:ext cx="65866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Weekly DOCX/PDF auto-delivered via email or Telegram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980181" y="4047679"/>
            <a:ext cx="1720815" cy="181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FF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Interaction Moments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9" name="Text 12"/>
          <p:cNvSpPr/>
          <p:nvPr/>
        </p:nvSpPr>
        <p:spPr>
          <a:xfrm>
            <a:off x="980182" y="4325020"/>
            <a:ext cx="7183562" cy="48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sets topics once — system runs forever autonomously</a:t>
            </a:r>
            <a:endParaRPr lang="en-US" sz="11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paper gets: summary + why it matters + complexity rating + product relevance score</a:t>
            </a:r>
            <a:endParaRPr lang="en-US" sz="11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repo gets: build verdict (Buildable / Broken / Research-Only) + setup effort estimate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89706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Tech &amp; Architecture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34132" y="1048494"/>
            <a:ext cx="1268059" cy="25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Tech Stack</a:t>
            </a:r>
            <a:endParaRPr lang="en-US" sz="1100" b="1" dirty="0"/>
          </a:p>
        </p:txBody>
      </p:sp>
      <p:sp>
        <p:nvSpPr>
          <p:cNvPr id="4" name="Shape 2"/>
          <p:cNvSpPr/>
          <p:nvPr/>
        </p:nvSpPr>
        <p:spPr>
          <a:xfrm>
            <a:off x="434132" y="1364382"/>
            <a:ext cx="3986585" cy="3267373"/>
          </a:xfrm>
          <a:prstGeom prst="roundRect">
            <a:avLst>
              <a:gd name="adj" fmla="val 56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2942" y="1439019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53816" y="1439019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2942" y="1764804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53816" y="1764804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2942" y="2090589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AI/LLM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53816" y="2090589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OpenAI API / Claude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2942" y="2416373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53816" y="2416373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ArXiv API + GitHub REST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942" y="2742158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53816" y="2742158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MongoDB Atlas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942" y="3067943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Scheduler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53816" y="3067943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node-cron + BullMQ/Redis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942" y="3393728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PDF Parsing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53816" y="3393728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pdf-parse + cheerio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2942" y="3719512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Report Gen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53816" y="3719512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docx + pdfkit/puppeteer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942" y="4045297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Email Delivery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53816" y="4045297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nodemailer (SMTP)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942" y="4371082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53816" y="4371082"/>
            <a:ext cx="17381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 + Tailwind CSS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28046" y="182262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Flow</a:t>
            </a:r>
            <a:endParaRPr lang="en-US" sz="1100" b="1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46" y="2138511"/>
            <a:ext cx="3986585" cy="171911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996296" y="3531617"/>
            <a:ext cx="904425" cy="113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Repo Auditor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996296" y="3133670"/>
            <a:ext cx="904425" cy="113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Analyst Agent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996296" y="2739742"/>
            <a:ext cx="904425" cy="113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Scout Agent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96296" y="2341795"/>
            <a:ext cx="904425" cy="113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Scheduler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5202"/>
            <a:ext cx="34887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Impact &amp; Use Cases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88379" y="1136005"/>
            <a:ext cx="4014936" cy="1027137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627906" y="1275531"/>
            <a:ext cx="174434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🎓 Student at MSRIT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27906" y="1580704"/>
            <a:ext cx="37358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Gets Monday digest of top 5 GenAI papers simplified for learning — saves 3 hours of manual search weekly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40684" y="1136005"/>
            <a:ext cx="4014936" cy="1027137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4780211" y="1275531"/>
            <a:ext cx="174434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💻 Developer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780211" y="1580704"/>
            <a:ext cx="37358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Clones repository confident it's buildable — Repo Auditor gave 8.4/10 feasibility with dependency notes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8379" y="2300511"/>
            <a:ext cx="4012780" cy="1167175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627906" y="2440037"/>
            <a:ext cx="174434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🚀 Startup CTO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27906" y="2745209"/>
            <a:ext cx="37358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Identifies productizable RAG optimization flagged "Should Build" — moves to sprint backlog immediately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40684" y="2300511"/>
            <a:ext cx="4014936" cy="1157584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4780211" y="2440037"/>
            <a:ext cx="174434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00206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🏆 Hackathon Team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80211" y="2745209"/>
            <a:ext cx="37358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Gets ranked paper + repo list in 2 minutes instead of 2 hours of manual research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8379" y="353370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Scale Potential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8379" y="3957786"/>
            <a:ext cx="8167241" cy="76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50+ papers scanned daily | 20+ repositories analyzed daily</a:t>
            </a:r>
            <a:endParaRPr lang="en-US" sz="12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Covers 10+ GenAI subfields | Under 2-minute report generation</a:t>
            </a:r>
            <a:endParaRPr lang="en-US" sz="12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SaaS model: Free → Freemium → Team Plan → Enterprise API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531465"/>
            <a:ext cx="4697685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Differentiation — Why We Win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80640" y="1226641"/>
            <a:ext cx="8182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OpenScholar AI is NOT a paper summarizer. It is the only tool that combines </a:t>
            </a:r>
            <a:r>
              <a:rPr lang="en-US" sz="1100" b="1" dirty="0">
                <a:latin typeface="Lora" pitchFamily="34" charset="0"/>
                <a:ea typeface="Lora" pitchFamily="34" charset="-122"/>
                <a:cs typeface="Lora" pitchFamily="34" charset="-120"/>
              </a:rPr>
              <a:t>research discovery + implementation intelligence + autonomous delivery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 one pipeline.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0640" y="2014910"/>
            <a:ext cx="2638871" cy="1875532"/>
          </a:xfrm>
          <a:prstGeom prst="roundRect">
            <a:avLst>
              <a:gd name="adj" fmla="val 4875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0640" y="1995860"/>
            <a:ext cx="2638871" cy="76200"/>
          </a:xfrm>
          <a:prstGeom prst="roundRect">
            <a:avLst>
              <a:gd name="adj" fmla="val 27035"/>
            </a:avLst>
          </a:prstGeom>
          <a:solidFill>
            <a:srgbClr val="1B5F39"/>
          </a:solidFill>
          <a:ln/>
        </p:spPr>
      </p:sp>
      <p:sp>
        <p:nvSpPr>
          <p:cNvPr id="6" name="Shape 4"/>
          <p:cNvSpPr/>
          <p:nvPr/>
        </p:nvSpPr>
        <p:spPr>
          <a:xfrm>
            <a:off x="1594098" y="1808931"/>
            <a:ext cx="411956" cy="411956"/>
          </a:xfrm>
          <a:prstGeom prst="roundRect">
            <a:avLst>
              <a:gd name="adj" fmla="val 138728"/>
            </a:avLst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1717700" y="1911921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6984" y="2358182"/>
            <a:ext cx="190581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00B0F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Research + Code Linkage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36984" y="2652489"/>
            <a:ext cx="2326184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paper is automatically paired with its GitHub implementation. No other digest tool does this. Developers get a paper AND a build verdict.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2490" y="2014910"/>
            <a:ext cx="2638946" cy="1875532"/>
          </a:xfrm>
          <a:prstGeom prst="roundRect">
            <a:avLst>
              <a:gd name="adj" fmla="val 4875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2490" y="1995860"/>
            <a:ext cx="2638946" cy="76200"/>
          </a:xfrm>
          <a:prstGeom prst="roundRect">
            <a:avLst>
              <a:gd name="adj" fmla="val 27035"/>
            </a:avLst>
          </a:prstGeom>
          <a:solidFill>
            <a:srgbClr val="1B5F3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5947" y="1808931"/>
            <a:ext cx="411956" cy="411956"/>
          </a:xfrm>
          <a:prstGeom prst="roundRect">
            <a:avLst>
              <a:gd name="adj" fmla="val 138728"/>
            </a:avLst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4489549" y="1911921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8834" y="2358182"/>
            <a:ext cx="180096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00B0F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Build Feasibility Engine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08834" y="2652489"/>
            <a:ext cx="2326258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checks if a repo is Buildable / Fixable / Broken / Research-Only. Stars ≠ usability. We tell you what stars don't.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4414" y="2014910"/>
            <a:ext cx="2638946" cy="1875532"/>
          </a:xfrm>
          <a:prstGeom prst="roundRect">
            <a:avLst>
              <a:gd name="adj" fmla="val 4875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24414" y="1995860"/>
            <a:ext cx="2638946" cy="76200"/>
          </a:xfrm>
          <a:prstGeom prst="roundRect">
            <a:avLst>
              <a:gd name="adj" fmla="val 27035"/>
            </a:avLst>
          </a:prstGeom>
          <a:solidFill>
            <a:srgbClr val="1B5F39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7871" y="1808931"/>
            <a:ext cx="411956" cy="411956"/>
          </a:xfrm>
          <a:prstGeom prst="roundRect">
            <a:avLst>
              <a:gd name="adj" fmla="val 138728"/>
            </a:avLst>
          </a:prstGeom>
          <a:solidFill>
            <a:srgbClr val="1B5F39"/>
          </a:solidFill>
          <a:ln/>
        </p:spPr>
      </p:sp>
      <p:sp>
        <p:nvSpPr>
          <p:cNvPr id="19" name="Text 17"/>
          <p:cNvSpPr/>
          <p:nvPr/>
        </p:nvSpPr>
        <p:spPr>
          <a:xfrm>
            <a:off x="7261473" y="1911921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0758" y="2358182"/>
            <a:ext cx="2326258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00B0F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Autonomous Multi-Agent Workflow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80758" y="2867025"/>
            <a:ext cx="2326258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 specialized agents run on a heartbeat schedule. Zero human intervention from fetch to inbox delivery.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640" y="4040088"/>
            <a:ext cx="8182719" cy="571946"/>
          </a:xfrm>
          <a:prstGeom prst="roundRect">
            <a:avLst>
              <a:gd name="adj" fmla="val 3602"/>
            </a:avLst>
          </a:prstGeom>
          <a:solidFill>
            <a:srgbClr val="B6D6FC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4" y="4248671"/>
            <a:ext cx="171599" cy="13729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26827" y="4207371"/>
            <a:ext cx="759923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 business, a moat is a sustainable competitive advantage that protects a company from competitors — we have three.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20" y="792993"/>
            <a:ext cx="17720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Demo Link</a:t>
            </a:r>
            <a:endParaRPr lang="en-US" sz="2700" b="1" dirty="0">
              <a:solidFill>
                <a:srgbClr val="FF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683693"/>
            <a:ext cx="4004965" cy="865956"/>
          </a:xfrm>
          <a:prstGeom prst="roundRect">
            <a:avLst>
              <a:gd name="adj" fmla="val 2456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825451"/>
            <a:ext cx="2126456" cy="27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🔗</a:t>
            </a: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GitHub Repository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37877" y="2181076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github.com/MSRIT-DRACARYS/openscolar-ai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683693"/>
            <a:ext cx="4005039" cy="865956"/>
          </a:xfrm>
          <a:prstGeom prst="roundRect">
            <a:avLst>
              <a:gd name="adj" fmla="val 2456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1825451"/>
            <a:ext cx="2126456" cy="27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🎥</a:t>
            </a: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Demo Video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784601" y="2181076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[YOUR DEMO URL HERE]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850877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📄</a:t>
            </a: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Documentation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3218855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Blueprint Submitted </a:t>
            </a: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49701" y="2850877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📊</a:t>
            </a: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Presentation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49701" y="3218855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Submitted </a:t>
            </a: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119" y="373268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 demo available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Scout Agent → Analyst Agent → Report generation pipeline can be triggered in real time during judging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41635"/>
            <a:ext cx="356101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FF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Future Scope &amp; Roadmap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34132" y="2073399"/>
            <a:ext cx="8275737" cy="14288"/>
          </a:xfrm>
          <a:prstGeom prst="roundRect">
            <a:avLst>
              <a:gd name="adj" fmla="val 130228"/>
            </a:avLst>
          </a:prstGeom>
          <a:solidFill>
            <a:srgbClr val="D6D3CC"/>
          </a:solidFill>
          <a:ln/>
        </p:spPr>
      </p:sp>
      <p:sp>
        <p:nvSpPr>
          <p:cNvPr id="4" name="Shape 2"/>
          <p:cNvSpPr/>
          <p:nvPr/>
        </p:nvSpPr>
        <p:spPr>
          <a:xfrm>
            <a:off x="2041401" y="1701329"/>
            <a:ext cx="14288" cy="372070"/>
          </a:xfrm>
          <a:prstGeom prst="roundRect">
            <a:avLst>
              <a:gd name="adj" fmla="val 130228"/>
            </a:avLst>
          </a:prstGeom>
          <a:solidFill>
            <a:srgbClr val="D6D3CC"/>
          </a:solidFill>
          <a:ln/>
        </p:spPr>
      </p:sp>
      <p:sp>
        <p:nvSpPr>
          <p:cNvPr id="5" name="Shape 3"/>
          <p:cNvSpPr/>
          <p:nvPr/>
        </p:nvSpPr>
        <p:spPr>
          <a:xfrm>
            <a:off x="1909018" y="1933873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1955527" y="195712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73299" y="94624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Phase 1 (Now)</a:t>
            </a:r>
            <a:endParaRPr lang="en-US" sz="1200" b="1" dirty="0"/>
          </a:p>
        </p:txBody>
      </p:sp>
      <p:sp>
        <p:nvSpPr>
          <p:cNvPr id="8" name="Text 6"/>
          <p:cNvSpPr/>
          <p:nvPr/>
        </p:nvSpPr>
        <p:spPr>
          <a:xfrm>
            <a:off x="558105" y="1205210"/>
            <a:ext cx="298095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5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Open-source launch 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ArXiv + GitHub + DOCX digest MVP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23680" y="2073399"/>
            <a:ext cx="14288" cy="372070"/>
          </a:xfrm>
          <a:prstGeom prst="roundRect">
            <a:avLst>
              <a:gd name="adj" fmla="val 130228"/>
            </a:avLst>
          </a:prstGeom>
          <a:solidFill>
            <a:srgbClr val="D6D3CC"/>
          </a:solidFill>
          <a:ln/>
        </p:spPr>
      </p:sp>
      <p:sp>
        <p:nvSpPr>
          <p:cNvPr id="10" name="Shape 8"/>
          <p:cNvSpPr/>
          <p:nvPr/>
        </p:nvSpPr>
        <p:spPr>
          <a:xfrm>
            <a:off x="3591297" y="1933873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3637806" y="195712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55578" y="256951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Phase 2 (3 mo)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2240384" y="2828479"/>
            <a:ext cx="298095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5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Freemium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unlimited topics, daily digest, Telegram alerts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05958" y="1701329"/>
            <a:ext cx="14288" cy="372070"/>
          </a:xfrm>
          <a:prstGeom prst="roundRect">
            <a:avLst>
              <a:gd name="adj" fmla="val 130228"/>
            </a:avLst>
          </a:prstGeom>
          <a:solidFill>
            <a:srgbClr val="D6D3CC"/>
          </a:solidFill>
          <a:ln/>
        </p:spPr>
      </p:sp>
      <p:sp>
        <p:nvSpPr>
          <p:cNvPr id="15" name="Shape 13"/>
          <p:cNvSpPr/>
          <p:nvPr/>
        </p:nvSpPr>
        <p:spPr>
          <a:xfrm>
            <a:off x="5273576" y="1933873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5320085" y="195712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637856" y="94624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Phase 3 (6 mo)</a:t>
            </a:r>
            <a:endParaRPr lang="en-US" sz="1200" b="1" dirty="0"/>
          </a:p>
        </p:txBody>
      </p:sp>
      <p:sp>
        <p:nvSpPr>
          <p:cNvPr id="18" name="Text 16"/>
          <p:cNvSpPr/>
          <p:nvPr/>
        </p:nvSpPr>
        <p:spPr>
          <a:xfrm>
            <a:off x="3922663" y="1205210"/>
            <a:ext cx="298095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5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Team Plan 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collaborative dashboard, Slack integration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88237" y="2073399"/>
            <a:ext cx="14288" cy="372070"/>
          </a:xfrm>
          <a:prstGeom prst="roundRect">
            <a:avLst>
              <a:gd name="adj" fmla="val 130228"/>
            </a:avLst>
          </a:prstGeom>
          <a:solidFill>
            <a:srgbClr val="D6D3CC"/>
          </a:solidFill>
          <a:ln/>
        </p:spPr>
      </p:sp>
      <p:sp>
        <p:nvSpPr>
          <p:cNvPr id="20" name="Shape 18"/>
          <p:cNvSpPr/>
          <p:nvPr/>
        </p:nvSpPr>
        <p:spPr>
          <a:xfrm>
            <a:off x="6955854" y="1933873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21" name="Text 19"/>
          <p:cNvSpPr/>
          <p:nvPr/>
        </p:nvSpPr>
        <p:spPr>
          <a:xfrm>
            <a:off x="7002363" y="195712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20135" y="256951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Phase 4 (12 mo)</a:t>
            </a:r>
            <a:endParaRPr lang="en-US" sz="1200" b="1" dirty="0"/>
          </a:p>
        </p:txBody>
      </p:sp>
      <p:sp>
        <p:nvSpPr>
          <p:cNvPr id="23" name="Text 21"/>
          <p:cNvSpPr/>
          <p:nvPr/>
        </p:nvSpPr>
        <p:spPr>
          <a:xfrm>
            <a:off x="5604942" y="2828479"/>
            <a:ext cx="298095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5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Enterprise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private LLM, custom data sources, API access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132" y="3363292"/>
            <a:ext cx="19648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Bonus Features on Roadmap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4132" y="3719885"/>
            <a:ext cx="8275737" cy="108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NL chat query: "show me best agent papers this week"</a:t>
            </a:r>
            <a:endParaRPr lang="en-US" sz="9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Audio briefings (TTS digest)</a:t>
            </a:r>
            <a:endParaRPr lang="en-US" sz="9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Browser extension for instant ArXiv paper scoring</a:t>
            </a:r>
            <a:endParaRPr lang="en-US" sz="9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Research-to-project starter kit generation</a:t>
            </a:r>
            <a:endParaRPr lang="en-US" sz="9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 learning roadmap from trend data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984</Words>
  <Application>Microsoft Office PowerPoint</Application>
  <PresentationFormat>On-screen Show (16:9)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Alice</vt:lpstr>
      <vt:lpstr>Berlin Sans FB Demi</vt:lpstr>
      <vt:lpstr>Lora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umesh m m umesh</cp:lastModifiedBy>
  <cp:revision>4</cp:revision>
  <dcterms:created xsi:type="dcterms:W3CDTF">2026-05-06T15:57:22Z</dcterms:created>
  <dcterms:modified xsi:type="dcterms:W3CDTF">2026-05-08T17:02:09Z</dcterms:modified>
</cp:coreProperties>
</file>